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1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8" r:id="rId14"/>
    <p:sldId id="271" r:id="rId15"/>
    <p:sldId id="274" r:id="rId16"/>
    <p:sldId id="273" r:id="rId17"/>
    <p:sldId id="269" r:id="rId18"/>
    <p:sldId id="270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59B0F-42AE-4497-B46C-B69786C04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5B6F61-7768-426B-A3E7-9C3EBF72D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7C9C61-6307-4A63-AAD6-9F2D1CB3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0D76D8-B94F-4C43-B738-EF6240C3A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CA88A-B0CF-404A-8BBA-F564BEBE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70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C773-FABB-4121-BE37-E82E2F52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C9D2F1-A2E5-426F-AA92-975BBFAA5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ED4A65-744A-4EAE-92CB-464FD4DE5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EF599C-FB03-469D-AC86-CA5CB098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EAE2A0-4CDE-4CE1-A294-891CCA87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9560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A35E2-05EE-40CD-BF23-2D886354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0A5E3C7-9D2F-4C8C-B519-CAAB3979E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DB1BA-FF20-4ED3-B64A-9FBFE4ED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761AF0-43AE-4412-AC50-AA3DB62B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2E4CD8-2F27-4545-902F-926DA320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75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E377F-C586-486F-8FD9-971E5153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E4A29F-E100-4BB0-A15B-47AE1B9D0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76B4CE-3230-43F9-9F9F-7F10E2A03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C3FB41-0946-42C8-BAAA-A728CA34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71504C-0F01-4D46-9D02-96D7AF5C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343FF2-AC05-4751-912D-F267C79A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5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44792-295F-4D6C-9362-E06A4F7D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82A328-837A-46D2-807B-8A160F01E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F2F3C6-58D0-47B7-93B7-2B562F16B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051B531-269D-4979-A0C0-1AFD5DFA1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5B7ECB-5D81-4195-97AF-E7A8E6FCB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33781E-BB20-425D-A064-C25F66F5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C4BD3C-0E15-4E7F-89E1-51C59434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B0161C-CD2B-4282-98E7-C23950DF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2614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44D4F-D711-4482-AECF-0B52DD81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FF5DDD-0256-489F-A83E-F69040AB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DA7845-BFA4-4B0E-BFB0-6E563BF1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49A143-F840-472F-A767-A5E64740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65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E950A5-025A-40E4-8577-D2376D11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6690DD-1047-4055-8359-BBE99077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CEEB10-1B23-4AA6-AEED-EACFFA15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2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B5BE85-4E4E-4430-A06D-C71DFE5F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156A66-6A2C-476D-B5F9-66025D62F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EE34EF-7F1A-45E6-801D-88E410781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5E0E7C-C2B6-4E2E-B8B6-D7C05FC1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7D4178-697D-4088-824D-4724CE96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22A5D7-4F63-4199-9AAE-0B25356BE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58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F3FB-55DA-45DA-9D90-960980A9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1BA863-31AB-4843-9441-E2A43F90A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817004-4DB0-4446-9BCF-AD2C41682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5FE56-2507-449B-83F0-DC4B6431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EA6382-9A66-4FCA-B909-F0C2A8A0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6BFE21-C39A-421F-8BF5-02730AC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79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0B9EA-A03F-4659-98F9-53AD59D7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6614B8-98CF-4CCD-A3F0-F116A8888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B6C971-3079-4FAE-8019-1BE522F8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9B2384-A6A1-402F-9615-973E0B22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87389-88F1-4EE0-A881-4C94CAEB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20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E8BF12-64B2-4F9D-AD71-DBFF2E3D7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85DC11-1A24-490B-B919-F3FFED3B2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C7758-E61C-4023-809F-DD32CE3C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9AFFC8-3949-4D75-A972-01255AA1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8D3413-65C1-48AC-8C0E-DF3FB0CA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05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01F592-4CD0-40FD-B127-CC42671BE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31FF18-F1AB-45B4-9ADD-F426E464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0A92F0-7E9B-4177-9046-D36BC9847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045E0-65EE-4955-BB93-2AE03060B8FB}" type="datetimeFigureOut">
              <a:rPr lang="pt-BR" smtClean="0"/>
              <a:t>18/06/2021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E09C3A-2D75-4E42-B70B-D5D81B65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7B6FA-A181-4C3A-AE26-72A17580F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E8C04-CA55-49C6-BF4C-C36B7D9A15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43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A36EC-3133-47FC-B27D-F0EC29335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Lugar Geométrico das Raízes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673C02-A351-439A-B93C-D0892FF4F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Edson de Paula Ferreira</a:t>
            </a:r>
          </a:p>
          <a:p>
            <a:endParaRPr lang="pt-BR" dirty="0"/>
          </a:p>
          <a:p>
            <a:r>
              <a:rPr lang="pt-BR" dirty="0"/>
              <a:t>Sistemas Realimentados</a:t>
            </a:r>
          </a:p>
        </p:txBody>
      </p:sp>
    </p:spTree>
    <p:extLst>
      <p:ext uri="{BB962C8B-B14F-4D97-AF65-F5344CB8AC3E}">
        <p14:creationId xmlns:p14="http://schemas.microsoft.com/office/powerpoint/2010/main" val="181632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B61D4-EB47-4073-8140-33F100E1F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Definição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14D26D-4BC3-4CE9-8C7B-4A80BFF7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9149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t-BR" dirty="0"/>
              <a:t>O Lugar Geométrico das Raízes de uma equação algébrica, escrita na forma padrão </a:t>
            </a:r>
          </a:p>
          <a:p>
            <a:pPr marL="0" indent="0" algn="ctr">
              <a:buNone/>
            </a:pPr>
            <a:r>
              <a:rPr lang="pt-BR" dirty="0"/>
              <a:t>1+K.F(S) = 0, </a:t>
            </a:r>
          </a:p>
          <a:p>
            <a:pPr marL="0" indent="0" algn="just">
              <a:buNone/>
            </a:pPr>
            <a:r>
              <a:rPr lang="pt-BR" dirty="0"/>
              <a:t>é constituído pelo conjunto dos “n” caminhos percorridos no plano complexo, “S”, pelas raízes desta equação, onde “n” é a ordem do sistema, para um parâmetro real, K, variando de -∞ (início) a +∞ (término).</a:t>
            </a:r>
          </a:p>
          <a:p>
            <a:pPr marL="0" indent="0" algn="just">
              <a:buNone/>
            </a:pPr>
            <a:r>
              <a:rPr lang="pt-BR" dirty="0"/>
              <a:t>Vamos escrever, sem perda de generalidade, somente F(S), sendo S </a:t>
            </a:r>
            <a:r>
              <a:rPr lang="pt-BR" dirty="0" err="1"/>
              <a:t>qq</a:t>
            </a:r>
            <a:r>
              <a:rPr lang="pt-BR" dirty="0"/>
              <a:t> variável complexa, S ou Z.</a:t>
            </a:r>
          </a:p>
          <a:p>
            <a:pPr marL="0" indent="0">
              <a:buNone/>
            </a:pPr>
            <a:r>
              <a:rPr lang="pt-BR" dirty="0"/>
              <a:t>Em controle a referida equação é a equação característica e suas raízes são os </a:t>
            </a:r>
            <a:r>
              <a:rPr lang="pt-BR" b="1" dirty="0"/>
              <a:t>polos em malha fechada</a:t>
            </a:r>
            <a:r>
              <a:rPr lang="pt-BR" dirty="0"/>
              <a:t> do sistema. A Equação Característica pode ser obtida via fórmula de Mason, calculando-se o determinante do sistema, ou o denominador da função de transferência em Malha Fechada</a:t>
            </a:r>
          </a:p>
        </p:txBody>
      </p:sp>
    </p:spTree>
    <p:extLst>
      <p:ext uri="{BB962C8B-B14F-4D97-AF65-F5344CB8AC3E}">
        <p14:creationId xmlns:p14="http://schemas.microsoft.com/office/powerpoint/2010/main" val="25981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9D136-80AB-4158-8B82-528D1708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5765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1271FA-0F73-4D1A-BCB3-1C99DFCE2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dirty="0"/>
              <a:t>Todo comportamento de sistemas dinâmicos realimentados é função dos “modos” definidos pelos seus polos em malha fechada.  Em geral, a obtenção de comportamentos adequados passa pelo ajuste ou projeto  de ganhos ou parâmetros característicos do controlador ou da planta. Assim, é fundamental que se determine de que maneira os polos em malha  fechada se movimentam no plano complexo, quando algum parâmetro característico varia. O Lugar Geométrico das Raízes é uma ferramenta adequada para este tipo de análise e síntese.</a:t>
            </a:r>
          </a:p>
        </p:txBody>
      </p:sp>
    </p:spTree>
    <p:extLst>
      <p:ext uri="{BB962C8B-B14F-4D97-AF65-F5344CB8AC3E}">
        <p14:creationId xmlns:p14="http://schemas.microsoft.com/office/powerpoint/2010/main" val="3000396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BC3B2-2285-48CF-B6AE-13431E757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Observação sobre a forma padrão: Variando ganho proporcional e variando polo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85AC6C3-760A-4A78-AE0A-CD12585D5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pt-BR" sz="2400" dirty="0"/>
                  <a:t>Considere um sistema com realimentação negativa unitária tal que a função de transferência em caminho direto é: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400" b="0" dirty="0"/>
              </a:p>
              <a:p>
                <a:pPr marL="0" indent="0">
                  <a:buNone/>
                </a:pPr>
                <a:r>
                  <a:rPr lang="pt-BR" sz="2400" dirty="0"/>
                  <a:t>A forma padrão para variações de k, dado a, é: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kF</m:t>
                      </m:r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 marL="0" indent="0" algn="just">
                  <a:buNone/>
                </a:pPr>
                <a:r>
                  <a:rPr lang="pt-BR" sz="2400" dirty="0"/>
                  <a:t>A forma padrão para variações de a, dado k, é: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latin typeface="Cambria Math" panose="02040503050406030204" pitchFamily="18" charset="0"/>
                        </a:rPr>
                        <m:t>kF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"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pt-BR" sz="2400" b="0" i="0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𝑎𝑆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𝑘𝑆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pt-BR" sz="2400" b="0" dirty="0"/>
              </a:p>
              <a:p>
                <a:pPr marL="0" indent="0" algn="just">
                  <a:buNone/>
                </a:pPr>
                <a:r>
                  <a:rPr lang="pt-BR" sz="2400" dirty="0"/>
                  <a:t>F’ tem zero em -1 e polos em 0 e –a. F” tem zero em 0 e polos nas raízes da equação de segunda ordem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𝑘𝑆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pt-BR" sz="2400" dirty="0"/>
                  <a:t>. Deduzir </a:t>
                </a:r>
                <a:r>
                  <a:rPr lang="pt-BR" sz="2400" dirty="0" err="1"/>
                  <a:t>F’e</a:t>
                </a:r>
                <a:r>
                  <a:rPr lang="pt-BR" sz="2400" dirty="0"/>
                  <a:t> F” a partir dos dados.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85AC6C3-760A-4A78-AE0A-CD12585D5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r="-870" b="-4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74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122E8-B80E-491E-B1FF-4EDCA8EE5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Observação sobre a forma padrão: Variando ganho proporcional e variando ganho derivativo, num PD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C206386-F53A-4F37-8DD4-36A4FBBDB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pt-BR" sz="2600" dirty="0"/>
                  <a:t>Considere o sistema com realimentação negativa unitária com função de transferência em caminho direto: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 b="0" i="1" smtClean="0">
                          <a:latin typeface="Cambria Math" panose="02040503050406030204" pitchFamily="18" charset="0"/>
                        </a:rPr>
                        <m:t>𝑃𝐷</m:t>
                      </m:r>
                      <m:d>
                        <m:dPr>
                          <m:ctrlPr>
                            <a:rPr lang="pt-BR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pt-BR" sz="2600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pt-BR" sz="2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𝐾𝑝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600" b="0" i="1" smtClean="0">
                                  <a:latin typeface="Cambria Math" panose="02040503050406030204" pitchFamily="18" charset="0"/>
                                </a:rPr>
                                <m:t>𝐾𝑑𝑆</m:t>
                              </m:r>
                            </m:e>
                          </m:d>
                        </m:num>
                        <m:den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t-BR" sz="2600" dirty="0"/>
              </a:p>
              <a:p>
                <a:pPr marL="0" indent="0">
                  <a:buNone/>
                </a:pPr>
                <a:r>
                  <a:rPr lang="pt-BR" sz="2600" dirty="0"/>
                  <a:t>A forma padrão para variações de </a:t>
                </a:r>
                <a:r>
                  <a:rPr lang="pt-BR" sz="2600" dirty="0" err="1"/>
                  <a:t>Kp</a:t>
                </a:r>
                <a:r>
                  <a:rPr lang="pt-BR" sz="2600" dirty="0"/>
                  <a:t>, dado </a:t>
                </a:r>
                <a:r>
                  <a:rPr lang="pt-BR" sz="2600" dirty="0" err="1"/>
                  <a:t>Kd</a:t>
                </a:r>
                <a:r>
                  <a:rPr lang="pt-BR" sz="2600" dirty="0"/>
                  <a:t>, é: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pt-BR" sz="2600" b="0" i="0" smtClean="0">
                          <a:latin typeface="Cambria Math" panose="02040503050406030204" pitchFamily="18" charset="0"/>
                        </a:rPr>
                        <m:t>Kp</m:t>
                      </m:r>
                      <m:r>
                        <m:rPr>
                          <m:sty m:val="p"/>
                        </m:rPr>
                        <a:rPr lang="pt-BR" sz="260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BR" sz="260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6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pt-BR" sz="260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𝐾𝑝</m:t>
                          </m:r>
                        </m:num>
                        <m:den>
                          <m:sSup>
                            <m:s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+(1+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𝐾𝑑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pt-BR" sz="2600" dirty="0"/>
              </a:p>
              <a:p>
                <a:pPr marL="0" indent="0" algn="just">
                  <a:buNone/>
                </a:pPr>
                <a:r>
                  <a:rPr lang="pt-BR" sz="2600" dirty="0"/>
                  <a:t>A forma padrão para variações de </a:t>
                </a:r>
                <a:r>
                  <a:rPr lang="pt-BR" sz="2600" dirty="0" err="1"/>
                  <a:t>Kd</a:t>
                </a:r>
                <a:r>
                  <a:rPr lang="pt-BR" sz="2600" dirty="0"/>
                  <a:t>, dado </a:t>
                </a:r>
                <a:r>
                  <a:rPr lang="pt-BR" sz="2600" dirty="0" err="1"/>
                  <a:t>Kp</a:t>
                </a:r>
                <a:r>
                  <a:rPr lang="pt-BR" sz="2600" dirty="0"/>
                  <a:t>, é: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600">
                          <a:latin typeface="Cambria Math" panose="02040503050406030204" pitchFamily="18" charset="0"/>
                        </a:rPr>
                        <m:t>1+</m:t>
                      </m:r>
                      <m:r>
                        <m:rPr>
                          <m:sty m:val="p"/>
                        </m:rPr>
                        <a:rPr lang="pt-BR" sz="2600" b="0" i="0" smtClean="0">
                          <a:latin typeface="Cambria Math" panose="02040503050406030204" pitchFamily="18" charset="0"/>
                        </a:rPr>
                        <m:t>Kd</m:t>
                      </m:r>
                      <m:r>
                        <m:rPr>
                          <m:sty m:val="p"/>
                        </m:rPr>
                        <a:rPr lang="pt-BR" sz="260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BR" sz="2600" i="1">
                          <a:latin typeface="Cambria Math" panose="02040503050406030204" pitchFamily="18" charset="0"/>
                        </a:rPr>
                        <m:t>"</m:t>
                      </m:r>
                      <m:d>
                        <m:d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60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pt-BR" sz="260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𝐾𝑑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sSup>
                            <m:sSupPr>
                              <m:ctrlPr>
                                <a:rPr lang="pt-BR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pt-BR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pt-BR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600" b="0" i="1" smtClean="0">
                              <a:latin typeface="Cambria Math" panose="02040503050406030204" pitchFamily="18" charset="0"/>
                            </a:rPr>
                            <m:t>𝐾𝑝</m:t>
                          </m:r>
                        </m:den>
                      </m:f>
                    </m:oMath>
                  </m:oMathPara>
                </a14:m>
                <a:endParaRPr lang="pt-BR" sz="2600" dirty="0"/>
              </a:p>
              <a:p>
                <a:pPr marL="0" indent="0" algn="just">
                  <a:buNone/>
                </a:pPr>
                <a:r>
                  <a:rPr lang="pt-BR" sz="2600" dirty="0"/>
                  <a:t>F’ não tem zeros e tem polos em 0 e –(1+Kd). F” tem zero em 0 e polos nas raízes da equação de segunda ordem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pt-BR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6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sz="260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pt-BR" sz="2600" dirty="0"/>
                  <a:t>Kp. Deduzir </a:t>
                </a:r>
                <a:r>
                  <a:rPr lang="pt-BR" sz="2600" dirty="0" err="1"/>
                  <a:t>F’e</a:t>
                </a:r>
                <a:r>
                  <a:rPr lang="pt-BR" sz="2600" dirty="0"/>
                  <a:t> F” e repetir para PI.</a:t>
                </a:r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C206386-F53A-4F37-8DD4-36A4FBBDB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928" t="-2661" r="-870" b="-14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16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A1C60-1DEE-4C1F-9B66-6C4DB3CF4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3150"/>
          </a:xfrm>
        </p:spPr>
        <p:txBody>
          <a:bodyPr>
            <a:normAutofit/>
          </a:bodyPr>
          <a:lstStyle/>
          <a:p>
            <a:r>
              <a:rPr lang="pt-BR" sz="3600" dirty="0"/>
              <a:t>LGR em Controle.  Ver Referência KUO (p.472)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1E9B3CF-8281-4C1F-9C79-491BDDA69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450" y="1438276"/>
            <a:ext cx="7315200" cy="505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6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9E40D-D98B-4C3A-BB35-D3124AF5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Observação.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A35EC1-60E6-45E1-99D9-74056D18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Note que neste caso F(S)=Q(S)/P(S).</a:t>
            </a:r>
          </a:p>
          <a:p>
            <a:pPr marL="0" indent="0">
              <a:buNone/>
            </a:pPr>
            <a:r>
              <a:rPr lang="pt-BR" dirty="0"/>
              <a:t>Assim: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Q(S)=0 fornece os zeros de F, que, em geral , são os zeros de malha aberta, para variações de ganho proporcional.</a:t>
            </a:r>
          </a:p>
          <a:p>
            <a:pPr marL="0" indent="0">
              <a:buNone/>
            </a:pPr>
            <a:r>
              <a:rPr lang="pt-BR" dirty="0"/>
              <a:t>P(S)=0 fornece ao polos de F, que, em geral , são os polos de malha aberta.</a:t>
            </a:r>
          </a:p>
        </p:txBody>
      </p:sp>
    </p:spTree>
    <p:extLst>
      <p:ext uri="{BB962C8B-B14F-4D97-AF65-F5344CB8AC3E}">
        <p14:creationId xmlns:p14="http://schemas.microsoft.com/office/powerpoint/2010/main" val="39209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28325-A3CC-4094-AE74-4F2B97BE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0918"/>
          </a:xfrm>
        </p:spPr>
        <p:txBody>
          <a:bodyPr>
            <a:normAutofit/>
          </a:bodyPr>
          <a:lstStyle/>
          <a:p>
            <a:r>
              <a:rPr lang="pt-BR" sz="3600" dirty="0"/>
              <a:t>LGR - </a:t>
            </a:r>
            <a:r>
              <a:rPr lang="pt-BR" sz="3600" dirty="0" err="1"/>
              <a:t>Kuo</a:t>
            </a:r>
            <a:r>
              <a:rPr lang="pt-BR" sz="3600" dirty="0"/>
              <a:t> p 472. </a:t>
            </a:r>
            <a:r>
              <a:rPr lang="pt-BR" sz="3600" dirty="0" err="1"/>
              <a:t>Obs</a:t>
            </a:r>
            <a:r>
              <a:rPr lang="pt-BR" sz="3600" dirty="0"/>
              <a:t>: considerar G1(S)H1(S)=F(S)=-1/K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4B21FC-5DD7-4DE9-8D55-D1F375D05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044"/>
            <a:ext cx="10515600" cy="48009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/>
              <a:t>Temos assim a equação característica: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1+KF(S)=P(S)+KQ(S)=0 fornece os zeros da equação característica que são os polos em malha fechada do sistema.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E6F5D9-B7ED-488B-9A76-9C5F6D9C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192" y="1927411"/>
            <a:ext cx="7134896" cy="7469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65BBE86-8C42-48C7-A63A-197B17178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161" y="3549673"/>
            <a:ext cx="7237927" cy="26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7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2906F-3279-4E4A-99F3-9F656191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Condições de Módulo e Ângulo. Explicar. </a:t>
            </a:r>
            <a:r>
              <a:rPr lang="pt-BR" sz="3600" dirty="0" err="1"/>
              <a:t>Kuo</a:t>
            </a:r>
            <a:r>
              <a:rPr lang="pt-BR" sz="3600" dirty="0"/>
              <a:t> p. 473.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35F501F-29C6-49A5-BBD3-D1E047676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8552" y="1789884"/>
            <a:ext cx="7134896" cy="11462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948C41-D6B8-48B9-BCCC-F2F14751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552" y="3234073"/>
            <a:ext cx="7134896" cy="292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3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CC476-89E3-425E-845A-B7301127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Usos das condições de Módulo e Ângulo. </a:t>
            </a:r>
            <a:r>
              <a:rPr lang="pt-BR" sz="3600" dirty="0" err="1"/>
              <a:t>Kuo</a:t>
            </a:r>
            <a:r>
              <a:rPr lang="pt-BR" sz="3600" dirty="0"/>
              <a:t> p. 474.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3A88E14-B141-40F0-BC53-087FE62F7F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581477"/>
            <a:ext cx="10439400" cy="208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56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78840-4CFC-4B6D-AF54-163D0494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9300"/>
          </a:xfrm>
        </p:spPr>
        <p:txBody>
          <a:bodyPr>
            <a:normAutofit/>
          </a:bodyPr>
          <a:lstStyle/>
          <a:p>
            <a:r>
              <a:rPr lang="pt-BR" sz="3600" dirty="0"/>
              <a:t>O LGR e a Condição de Módulo. </a:t>
            </a:r>
            <a:r>
              <a:rPr lang="pt-BR" sz="3600" dirty="0" err="1"/>
              <a:t>Kuo</a:t>
            </a:r>
            <a:r>
              <a:rPr lang="pt-BR" sz="3600" dirty="0"/>
              <a:t> p 474.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46740ED-928C-4540-84DA-454D068134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425" y="1114427"/>
            <a:ext cx="7556408" cy="529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59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CF52B-0593-432F-9548-DF03A683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2254249"/>
          </a:xfrm>
        </p:spPr>
        <p:txBody>
          <a:bodyPr>
            <a:normAutofit/>
          </a:bodyPr>
          <a:lstStyle/>
          <a:p>
            <a:r>
              <a:rPr lang="pt-BR" sz="3600" dirty="0"/>
              <a:t>Obtenção do valor de K:  Para um dado ponto S do LGR, o módulo de K se obtêm pelo produto das distâncias de S aos polos de F(S) dividido pelo produto das distancias aos zeros de F(S). Pensar: E o sinal de K? 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F5BDE88-7EDA-4066-8154-11364D139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1150" y="2705099"/>
            <a:ext cx="8839200" cy="345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8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1A385D-A9B0-4F4A-A401-1F23B180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8442"/>
          </a:xfrm>
        </p:spPr>
        <p:txBody>
          <a:bodyPr>
            <a:normAutofit/>
          </a:bodyPr>
          <a:lstStyle/>
          <a:p>
            <a:r>
              <a:rPr lang="pt-BR" sz="3600" dirty="0"/>
              <a:t>Exemplo de cálculo do módulo de K, para um dado S1 no LGR. Note os ângulos dos vetores. </a:t>
            </a:r>
            <a:r>
              <a:rPr lang="pt-BR" sz="3600" dirty="0" err="1"/>
              <a:t>Kuo</a:t>
            </a:r>
            <a:r>
              <a:rPr lang="pt-BR" sz="3600" dirty="0"/>
              <a:t> p. 476.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F51C9E3-5726-45D2-AD86-AD7EAE8AC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501" y="1619250"/>
            <a:ext cx="9036601" cy="48285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A61663E-1C3B-41E5-9273-983852D3F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297" y="2310550"/>
            <a:ext cx="4842456" cy="5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3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76FDA-B11F-4FD0-8C26-EB80CC60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Obtenção de K versus análise de estabilidade.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52FE3E-8987-486F-BF32-24172FF7C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Estabilidade contínua: Intervalo de valores de K que mantem os polos em malha fechada à esquerda do plano S. Testar os pontos de cruzamento do LGR com o eixo imaginário.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Estabilidade discreta: Intervalo de valores de K que mantem os polos em malha fechada dentro do círculo unitário. Testar os pontos de cruzamento do LGR com o círculo unitário.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/>
              <a:t>Dar exemplos</a:t>
            </a:r>
            <a:r>
              <a:rPr lang="pt-B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67924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DC35A-CD34-4E75-9A35-D46F060E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pt-BR" sz="3600" dirty="0"/>
              <a:t>Análise de estabilidade no plano S</a:t>
            </a:r>
          </a:p>
        </p:txBody>
      </p:sp>
      <p:pic>
        <p:nvPicPr>
          <p:cNvPr id="5" name="Espaço Reservado para Conteúdo 4" descr="Diagrama&#10;&#10;Descrição gerada automaticamente">
            <a:extLst>
              <a:ext uri="{FF2B5EF4-FFF2-40B4-BE49-F238E27FC236}">
                <a16:creationId xmlns:a16="http://schemas.microsoft.com/office/drawing/2014/main" id="{B47A45A2-9DDA-41E9-AA99-FDBFCC34D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980" y="1190626"/>
            <a:ext cx="8164039" cy="5062537"/>
          </a:xfrm>
        </p:spPr>
      </p:pic>
    </p:spTree>
    <p:extLst>
      <p:ext uri="{BB962C8B-B14F-4D97-AF65-F5344CB8AC3E}">
        <p14:creationId xmlns:p14="http://schemas.microsoft.com/office/powerpoint/2010/main" val="3306522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89442-3B5D-4BE0-B326-AB517FE5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pt-BR" sz="3600" dirty="0"/>
              <a:t>Análise de estabilidade no plano Z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F31AB8A-006E-4AA0-B2F9-C1123EA82E31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27" t="6272" r="7898" b="3312"/>
          <a:stretch/>
        </p:blipFill>
        <p:spPr bwMode="auto">
          <a:xfrm>
            <a:off x="1924050" y="1485900"/>
            <a:ext cx="7239000" cy="44481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5224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D547D-A0A9-4C54-8007-138656EC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LGR – Condição de ângulo para K positivo. </a:t>
            </a:r>
            <a:r>
              <a:rPr lang="pt-BR" sz="3600" dirty="0" err="1"/>
              <a:t>Kuo</a:t>
            </a:r>
            <a:r>
              <a:rPr lang="pt-BR" sz="3600" dirty="0"/>
              <a:t> p.474. Aplicar ao exemplo 8.1, anterior.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46C6B40-6E10-4C8B-8A71-ECFB74889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599" y="1775759"/>
            <a:ext cx="9544051" cy="171655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0EDA6B8-02BC-47AB-ACF2-A33249AED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80" y="3956431"/>
            <a:ext cx="8759991" cy="194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D856C-FA88-49C5-BDB8-83D8E7FF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LGR – Condição de ângulo para K negativo. </a:t>
            </a:r>
            <a:r>
              <a:rPr lang="pt-BR" sz="3600" dirty="0" err="1"/>
              <a:t>Kuo</a:t>
            </a:r>
            <a:r>
              <a:rPr lang="pt-BR" sz="3600" dirty="0"/>
              <a:t> p.475. Aplicar ao exemplo 8.1, anterior.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6AD0B67-9AB5-4656-A6AD-7C93B6023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118" y="1714501"/>
            <a:ext cx="9893176" cy="17907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6FCB785-73B1-47FB-89FF-B6C45C30F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06" y="3964143"/>
            <a:ext cx="9763441" cy="152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9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890</Words>
  <Application>Microsoft Office PowerPoint</Application>
  <PresentationFormat>Widescreen</PresentationFormat>
  <Paragraphs>55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Tema do Office</vt:lpstr>
      <vt:lpstr>Lugar Geométrico das Raízes</vt:lpstr>
      <vt:lpstr>Definição</vt:lpstr>
      <vt:lpstr>Motivação</vt:lpstr>
      <vt:lpstr>Observação sobre a forma padrão: Variando ganho proporcional e variando polo</vt:lpstr>
      <vt:lpstr>Observação sobre a forma padrão: Variando ganho proporcional e variando ganho derivativo, num PD</vt:lpstr>
      <vt:lpstr>LGR em Controle.  Ver Referência KUO (p.472)</vt:lpstr>
      <vt:lpstr>Observação.</vt:lpstr>
      <vt:lpstr>LGR - Kuo p 472. Obs: considerar G1(S)H1(S)=F(S)=-1/K</vt:lpstr>
      <vt:lpstr>Condições de Módulo e Ângulo. Explicar. Kuo p. 473.</vt:lpstr>
      <vt:lpstr>Usos das condições de Módulo e Ângulo. Kuo p. 474.</vt:lpstr>
      <vt:lpstr>O LGR e a Condição de Módulo. Kuo p 474.</vt:lpstr>
      <vt:lpstr>Obtenção do valor de K:  Para um dado ponto S do LGR, o módulo de K se obtêm pelo produto das distâncias de S aos polos de F(S) dividido pelo produto das distancias aos zeros de F(S). Pensar: E o sinal de K? </vt:lpstr>
      <vt:lpstr>Exemplo de cálculo do módulo de K, para um dado S1 no LGR. Note os ângulos dos vetores. Kuo p. 476.</vt:lpstr>
      <vt:lpstr>Obtenção de K versus análise de estabilidade.</vt:lpstr>
      <vt:lpstr>Análise de estabilidade no plano S</vt:lpstr>
      <vt:lpstr>Análise de estabilidade no plano Z</vt:lpstr>
      <vt:lpstr>LGR – Condição de ângulo para K positivo. Kuo p.474. Aplicar ao exemplo 8.1, anterior.</vt:lpstr>
      <vt:lpstr>LGR – Condição de ângulo para K negativo. Kuo p.475. Aplicar ao exemplo 8.1, anterior.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Lugar Geométrico das Raízes</dc:title>
  <dc:creator>79376</dc:creator>
  <cp:lastModifiedBy>79376</cp:lastModifiedBy>
  <cp:revision>41</cp:revision>
  <dcterms:created xsi:type="dcterms:W3CDTF">2021-02-03T15:03:55Z</dcterms:created>
  <dcterms:modified xsi:type="dcterms:W3CDTF">2021-06-18T18:11:31Z</dcterms:modified>
</cp:coreProperties>
</file>